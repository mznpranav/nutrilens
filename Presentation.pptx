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Helvetica World" panose="020B0604020202020204" charset="-128"/>
      <p:regular r:id="rId9"/>
    </p:embeddedFont>
    <p:embeddedFont>
      <p:font typeface="Helvetica World Bold" panose="020B0604020202020204" charset="-128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eorgia Pro Condense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C4DAF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201400" y="790847"/>
            <a:ext cx="7086600" cy="2941151"/>
          </a:xfrm>
          <a:custGeom>
            <a:avLst/>
            <a:gdLst/>
            <a:ahLst/>
            <a:cxnLst/>
            <a:rect l="l" t="t" r="r" b="b"/>
            <a:pathLst>
              <a:path w="7086600" h="2941151">
                <a:moveTo>
                  <a:pt x="0" y="0"/>
                </a:moveTo>
                <a:lnTo>
                  <a:pt x="7086600" y="0"/>
                </a:lnTo>
                <a:lnTo>
                  <a:pt x="7086600" y="2941150"/>
                </a:lnTo>
                <a:lnTo>
                  <a:pt x="0" y="294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892387" y="4966247"/>
            <a:ext cx="5704627" cy="4292053"/>
          </a:xfrm>
          <a:custGeom>
            <a:avLst/>
            <a:gdLst/>
            <a:ahLst/>
            <a:cxnLst/>
            <a:rect l="l" t="t" r="r" b="b"/>
            <a:pathLst>
              <a:path w="5704627" h="4292053">
                <a:moveTo>
                  <a:pt x="0" y="0"/>
                </a:moveTo>
                <a:lnTo>
                  <a:pt x="5704626" y="0"/>
                </a:lnTo>
                <a:lnTo>
                  <a:pt x="5704626" y="4292053"/>
                </a:lnTo>
                <a:lnTo>
                  <a:pt x="0" y="429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66750" y="9011285"/>
            <a:ext cx="6886575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u="none" strike="noStrike" spc="-57">
                <a:solidFill>
                  <a:srgbClr val="08448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5380" y="975068"/>
            <a:ext cx="9754495" cy="579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u="none" strike="noStrike" spc="-523">
                <a:solidFill>
                  <a:srgbClr val="08448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NutriLens: Understand Your Food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ACCB85-AD26-4D08-ACF5-3605FD5A384B}"/>
              </a:ext>
            </a:extLst>
          </p:cNvPr>
          <p:cNvSpPr txBox="1"/>
          <p:nvPr/>
        </p:nvSpPr>
        <p:spPr>
          <a:xfrm>
            <a:off x="4703380" y="7180903"/>
            <a:ext cx="7003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Hack Squad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C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8448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E6F0FA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8448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Why Current Solutions Fail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97212"/>
              <a:ext cx="17665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Limitations of existing food apps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901950"/>
            <a:chOff x="0" y="0"/>
            <a:chExt cx="5744662" cy="38692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525"/>
              <a:ext cx="5744662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Raw Data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79500"/>
              <a:ext cx="5744662" cy="2789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Current solutions present users with raw data, lacking meaningful insights. This approach can lead to confusion, as consumers struggle to interpret the information effectively and make informed choices.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3254375"/>
            <a:chOff x="0" y="0"/>
            <a:chExt cx="5346700" cy="43391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Manual Effort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79500"/>
              <a:ext cx="5346700" cy="32596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Many existing applications require users to conduct manual research and interpret complex information independently. This additional effort can be overwhelming, resulting in frustration and poor decision-making regarding food choices.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901950"/>
            <a:chOff x="0" y="0"/>
            <a:chExt cx="5346700" cy="38692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Feature not Interface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79500"/>
              <a:ext cx="5346700" cy="2789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Often, AI capabilities are treated as mere add-ons rather than integral features. This results in a disjointed user experience, where the benefits of AI are not fully realized in food understanding.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A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1200859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859" cy="1350966"/>
            </a:xfrm>
            <a:custGeom>
              <a:avLst/>
              <a:gdLst/>
              <a:ahLst/>
              <a:cxnLst/>
              <a:rect l="l" t="t" r="r" b="b"/>
              <a:pathLst>
                <a:path w="1200859" h="1350966">
                  <a:moveTo>
                    <a:pt x="0" y="0"/>
                  </a:moveTo>
                  <a:lnTo>
                    <a:pt x="1200859" y="0"/>
                  </a:lnTo>
                  <a:lnTo>
                    <a:pt x="1200859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42D5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54645" y="1579194"/>
            <a:ext cx="8434710" cy="7128612"/>
            <a:chOff x="0" y="0"/>
            <a:chExt cx="1244440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44440" cy="1051741"/>
            </a:xfrm>
            <a:custGeom>
              <a:avLst/>
              <a:gdLst/>
              <a:ahLst/>
              <a:cxnLst/>
              <a:rect l="l" t="t" r="r" b="b"/>
              <a:pathLst>
                <a:path w="1244440" h="1051741">
                  <a:moveTo>
                    <a:pt x="41304" y="0"/>
                  </a:moveTo>
                  <a:lnTo>
                    <a:pt x="1203136" y="0"/>
                  </a:lnTo>
                  <a:cubicBezTo>
                    <a:pt x="1214090" y="0"/>
                    <a:pt x="1224596" y="4352"/>
                    <a:pt x="1232342" y="12098"/>
                  </a:cubicBezTo>
                  <a:cubicBezTo>
                    <a:pt x="1240088" y="19844"/>
                    <a:pt x="1244440" y="30349"/>
                    <a:pt x="1244440" y="41304"/>
                  </a:cubicBezTo>
                  <a:lnTo>
                    <a:pt x="1244440" y="1010437"/>
                  </a:lnTo>
                  <a:cubicBezTo>
                    <a:pt x="1244440" y="1021391"/>
                    <a:pt x="1240088" y="1031897"/>
                    <a:pt x="1232342" y="1039643"/>
                  </a:cubicBezTo>
                  <a:cubicBezTo>
                    <a:pt x="1224596" y="1047389"/>
                    <a:pt x="1214090" y="1051741"/>
                    <a:pt x="1203136" y="1051741"/>
                  </a:cubicBezTo>
                  <a:lnTo>
                    <a:pt x="41304" y="1051741"/>
                  </a:lnTo>
                  <a:cubicBezTo>
                    <a:pt x="30349" y="1051741"/>
                    <a:pt x="19844" y="1047389"/>
                    <a:pt x="12098" y="1039643"/>
                  </a:cubicBezTo>
                  <a:cubicBezTo>
                    <a:pt x="4352" y="1031897"/>
                    <a:pt x="0" y="1021391"/>
                    <a:pt x="0" y="1010437"/>
                  </a:cubicBezTo>
                  <a:lnTo>
                    <a:pt x="0" y="41304"/>
                  </a:lnTo>
                  <a:cubicBezTo>
                    <a:pt x="0" y="30349"/>
                    <a:pt x="4352" y="19844"/>
                    <a:pt x="12098" y="12098"/>
                  </a:cubicBezTo>
                  <a:cubicBezTo>
                    <a:pt x="19844" y="4352"/>
                    <a:pt x="30349" y="0"/>
                    <a:pt x="41304" y="0"/>
                  </a:cubicBezTo>
                  <a:close/>
                </a:path>
              </a:pathLst>
            </a:custGeom>
            <a:blipFill>
              <a:blip r:embed="rId2"/>
              <a:stretch>
                <a:fillRect l="-6165" r="-616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733425"/>
            <a:ext cx="832485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08448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Our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86875" y="3139554"/>
            <a:ext cx="8324850" cy="31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4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99" u="none" strike="noStrike" spc="-37" dirty="0" err="1">
                <a:solidFill>
                  <a:schemeClr val="bg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NutriLens</a:t>
            </a:r>
            <a:r>
              <a:rPr lang="en-US" sz="2499" u="none" strike="noStrike" spc="-37" dirty="0">
                <a:solidFill>
                  <a:schemeClr val="bg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delivers an </a:t>
            </a:r>
            <a:r>
              <a:rPr lang="en-US" sz="2499" b="1" u="none" strike="noStrike" spc="-37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AI-native experience</a:t>
            </a:r>
            <a:r>
              <a:rPr lang="en-US" sz="2499" u="none" strike="noStrike" spc="-37" dirty="0">
                <a:solidFill>
                  <a:schemeClr val="bg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that provides instant clarity about food choices. </a:t>
            </a:r>
            <a:endParaRPr lang="en-US" sz="2499" spc="-37" dirty="0">
              <a:solidFill>
                <a:schemeClr val="bg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342900" lvl="0" indent="-342900" algn="l">
              <a:lnSpc>
                <a:spcPts val="34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99" u="none" strike="noStrike" spc="-37" dirty="0">
              <a:solidFill>
                <a:schemeClr val="bg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342900" lvl="0" indent="-342900" algn="l">
              <a:lnSpc>
                <a:spcPts val="34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99" spc="-37" dirty="0">
              <a:solidFill>
                <a:schemeClr val="bg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342900" lvl="0" indent="-342900" algn="l">
              <a:lnSpc>
                <a:spcPts val="349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99" u="none" strike="noStrike" spc="-37" dirty="0">
                <a:solidFill>
                  <a:schemeClr val="bg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Users can effortlessly understand nutritional information and make informed decisions, ensuring a healthier lifestyle with every meal.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9118" y="3367087"/>
            <a:ext cx="400765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042D5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Scan Food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9118" y="5105400"/>
            <a:ext cx="4007657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08448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Users can effortlessly scan food items or enter names manually, initiating the process of understanding nutritional content and health insights tailored to their needs.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81575" y="3367087"/>
            <a:ext cx="40100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042D5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Categorization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16434" y="3323432"/>
            <a:ext cx="400310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042D5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Smart Follow-Up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81575" y="5105400"/>
            <a:ext cx="4010025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08448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NutriLens AI intelligently identifies the food category, utilizing advanced algorithms to provide accurate, relevant information based on the scanned item or entered name.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11225" y="5105400"/>
            <a:ext cx="4003106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08448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application poses thoughtful follow-up questions to deepen the user’s understanding, ensuring that all relevant nutritional information is conveyed in an engaging manner.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96400" y="3367087"/>
            <a:ext cx="3807849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042D5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Personalized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7189" y="5105400"/>
            <a:ext cx="4009236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08448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Based on user profiles and preferences, NutriLens delivers customized insights, helping individuals make informed choices about their dietary habits and nutritional needs effectively.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w="19050" cap="flat">
            <a:solidFill>
              <a:srgbClr val="08448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669118" y="4248150"/>
            <a:ext cx="323850" cy="32385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8448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983154" y="4248150"/>
            <a:ext cx="323850" cy="323850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8448B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297189" y="4248150"/>
            <a:ext cx="323850" cy="323850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8448B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3611225" y="4248150"/>
            <a:ext cx="323850" cy="323850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8448B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08448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How NutriLens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D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8448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E6F0FA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8448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AI-Native Features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97212"/>
              <a:ext cx="17665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Unlocking the potential of AI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930525"/>
            <a:chOff x="0" y="0"/>
            <a:chExt cx="5744662" cy="39073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525"/>
              <a:ext cx="5744662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Context-aware reasoning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79500"/>
              <a:ext cx="5744662" cy="2827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Context-aware reasoning allows </a:t>
              </a:r>
              <a:r>
                <a:rPr lang="en-US" sz="2000" b="1" u="none" strike="noStrike" spc="-30">
                  <a:solidFill>
                    <a:srgbClr val="08448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NutriLens</a:t>
              </a: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to provide tailored insights by considering user preferences and dietary restrictions, ensuring relevant information at critical decision-making moments.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Personalization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79500"/>
              <a:ext cx="5346700" cy="231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Personalization enhances user experience by adapting to individual age, health goals, and dietary needs, making it easier for users to connect with their food choices effectively.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549525"/>
            <a:chOff x="0" y="0"/>
            <a:chExt cx="5346700" cy="33993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Confidence levels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79500"/>
              <a:ext cx="5346700" cy="231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Confidence levels indicate the AI's certainty about its assessments, empowering users to make informed choices based on the reliability of the information provided by NutriLens.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C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8448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E6F0FA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8448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Safety &amp; Responsibility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97212"/>
              <a:ext cx="17665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Upholding ethical standards in AI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901950"/>
            <a:chOff x="0" y="0"/>
            <a:chExt cx="5744662" cy="38692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525"/>
              <a:ext cx="5744662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Educational Only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79500"/>
              <a:ext cx="5744662" cy="2789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NutriLens provides information designed for educational purposes, empowering users to make informed decisions about their food without replacing professional medical advice or guidance.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901950"/>
            <a:chOff x="0" y="0"/>
            <a:chExt cx="5346700" cy="38692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No Diagnosis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79500"/>
              <a:ext cx="5346700" cy="2789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We emphasize that NutriLens does not offer diagnoses or treatment plans, ensuring that users are aware of its limitations and encouraging them to consult healthcare professionals when needed.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901950"/>
            <a:chOff x="0" y="0"/>
            <a:chExt cx="5346700" cy="38692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Clear Disclaimers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79500"/>
              <a:ext cx="5346700" cy="2789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Transparency is key; NutriLens includes clear medical disclaimers to inform users about the nature of information provided, fostering trust and responsible use of AI technology in health contexts.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A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8448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  <a:solidFill>
            <a:schemeClr val="bg1">
              <a:lumMod val="95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  <a:grp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8448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Impact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97212"/>
              <a:ext cx="17665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Transforming health education for all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225675"/>
            <a:chOff x="0" y="0"/>
            <a:chExt cx="5744662" cy="29675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525"/>
              <a:ext cx="5744662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Faster Decisions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79500"/>
              <a:ext cx="5744662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NutriLens enables users to make </a:t>
              </a:r>
              <a:r>
                <a:rPr lang="en-US" sz="2000" b="1" u="none" strike="noStrike" spc="-30">
                  <a:solidFill>
                    <a:srgbClr val="08448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quick, informed choices</a:t>
              </a: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about their food, leading to healthier lifestyles and better eating habits in real time.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Reduced Confusion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79500"/>
              <a:ext cx="5346700" cy="231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By simplifying complex food information, NutriLens alleviates consumer confusion, allowing individuals to easily understand food labels and ingredients.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578100"/>
            <a:chOff x="0" y="0"/>
            <a:chExt cx="5346700" cy="34374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042D5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Scalable Health Education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79500"/>
              <a:ext cx="5346700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NutriLens aims to provide </a:t>
              </a:r>
              <a:r>
                <a:rPr lang="en-US" sz="2000" b="1" u="none" strike="noStrike" spc="-30">
                  <a:solidFill>
                    <a:srgbClr val="08448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widespread access</a:t>
              </a:r>
              <a:r>
                <a:rPr lang="en-US" sz="2000" u="none" strike="noStrike" spc="-30">
                  <a:solidFill>
                    <a:srgbClr val="08448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to personalized nutrition insights, promoting health education and empowering users to take control of their dietary choices.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554</Words>
  <Application>Microsoft Office PowerPoint</Application>
  <PresentationFormat>Custom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Helvetica World</vt:lpstr>
      <vt:lpstr>Calibri</vt:lpstr>
      <vt:lpstr>Arial</vt:lpstr>
      <vt:lpstr>Helvetica World Bold</vt:lpstr>
      <vt:lpstr>Georgia Pro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NutriLens: Understand Your Food</dc:title>
  <dc:creator>pranav mittal</dc:creator>
  <dc:description>Presentation - NutriLens: Understand Your Food</dc:description>
  <cp:lastModifiedBy>pranav mittal</cp:lastModifiedBy>
  <cp:revision>2</cp:revision>
  <dcterms:created xsi:type="dcterms:W3CDTF">2006-08-16T00:00:00Z</dcterms:created>
  <dcterms:modified xsi:type="dcterms:W3CDTF">2026-01-06T12:56:15Z</dcterms:modified>
  <dc:identifier>DAG9pOh20Hc</dc:identifier>
</cp:coreProperties>
</file>